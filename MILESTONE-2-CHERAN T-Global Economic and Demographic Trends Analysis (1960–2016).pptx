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4"/>
  </p:notesMasterIdLst>
  <p:handoutMasterIdLst>
    <p:handoutMasterId r:id="rId15"/>
  </p:handoutMasterIdLst>
  <p:sldIdLst>
    <p:sldId id="256" r:id="rId5"/>
    <p:sldId id="257" r:id="rId6"/>
    <p:sldId id="260" r:id="rId7"/>
    <p:sldId id="258" r:id="rId8"/>
    <p:sldId id="261" r:id="rId9"/>
    <p:sldId id="283" r:id="rId10"/>
    <p:sldId id="264" r:id="rId11"/>
    <p:sldId id="266" r:id="rId12"/>
    <p:sldId id="28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75AC"/>
    <a:srgbClr val="103350"/>
    <a:srgbClr val="0C4360"/>
    <a:srgbClr val="1B6872"/>
    <a:srgbClr val="63B7C6"/>
    <a:srgbClr val="002136"/>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9/30/2025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9/30/2025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smtClean="0"/>
              <a:t>Click to edit Master subtitle style</a:t>
            </a:r>
            <a:endParaRPr lang="en-US" noProof="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a:p>
            <a:pPr lvl="1"/>
            <a:r>
              <a:rPr lang="en-US" noProof="0" smtClean="0"/>
              <a:t>Second level</a:t>
            </a:r>
          </a:p>
          <a:p>
            <a:pPr lvl="2"/>
            <a:r>
              <a:rPr lang="en-US" noProof="0" smtClean="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smtClean="0"/>
              <a:t>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6" Type="http://schemas.openxmlformats.org/officeDocument/2006/relationships/image" Target="../media/image18.png"/><Relationship Id="rId1" Type="http://schemas.openxmlformats.org/officeDocument/2006/relationships/slideLayout" Target="../slideLayouts/slideLayout9.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568056" y="1358235"/>
            <a:ext cx="8519043" cy="2958787"/>
          </a:xfrm>
        </p:spPr>
        <p:txBody>
          <a:bodyPr/>
          <a:lstStyle/>
          <a:p>
            <a:r>
              <a:rPr lang="en-US" b="0" dirty="0">
                <a:solidFill>
                  <a:schemeClr val="bg1"/>
                </a:solidFill>
              </a:rPr>
              <a:t>Global Economic and Demographic Trends Analysis (1960–2016)</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8028081" y="5787800"/>
            <a:ext cx="4070135" cy="868680"/>
          </a:xfrm>
        </p:spPr>
        <p:txBody>
          <a:bodyPr/>
          <a:lstStyle/>
          <a:p>
            <a:pPr marL="0" indent="0">
              <a:buNone/>
            </a:pPr>
            <a:r>
              <a:rPr lang="en-US" dirty="0" smtClean="0"/>
              <a:t>Name: </a:t>
            </a:r>
            <a:r>
              <a:rPr lang="en-US" dirty="0" err="1" smtClean="0"/>
              <a:t>Cheran</a:t>
            </a:r>
            <a:r>
              <a:rPr lang="en-US" dirty="0" smtClean="0"/>
              <a:t> T</a:t>
            </a:r>
          </a:p>
          <a:p>
            <a:pPr marL="0" indent="0">
              <a:buNone/>
            </a:pPr>
            <a:r>
              <a:rPr lang="en-US" dirty="0" smtClean="0"/>
              <a:t>Batch: DADS-March_2025</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506535" y="896816"/>
            <a:ext cx="7781544" cy="859055"/>
          </a:xfrm>
        </p:spPr>
        <p:txBody>
          <a:bodyPr/>
          <a:lstStyle/>
          <a:p>
            <a:r>
              <a:rPr lang="en-IN" u="sng" dirty="0"/>
              <a:t>OBJECTIVE</a:t>
            </a:r>
            <a:endParaRPr lang="en-US" dirty="0"/>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a:xfrm>
            <a:off x="559288" y="1844627"/>
            <a:ext cx="8936403" cy="1276642"/>
          </a:xfrm>
        </p:spPr>
        <p:txBody>
          <a:bodyPr>
            <a:normAutofit/>
          </a:bodyPr>
          <a:lstStyle/>
          <a:p>
            <a:r>
              <a:rPr lang="en-US" b="1" dirty="0"/>
              <a:t>To analyze global economic, demographic, and health indicators from 1960 to 2016 using SQL and Excel data sources in Power BI, and deliver actionable insights through interactive dashboards focusing on population trends, GDP per capita, literacy rates, and infant mortality across regions and countries.</a:t>
            </a:r>
            <a:endParaRPr lang="en-US" dirty="0"/>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6" name="Title 3">
            <a:extLst>
              <a:ext uri="{FF2B5EF4-FFF2-40B4-BE49-F238E27FC236}">
                <a16:creationId xmlns:a16="http://schemas.microsoft.com/office/drawing/2014/main" id="{E3BD8413-C238-49D7-A4E1-E8FEF1811A0E}"/>
              </a:ext>
            </a:extLst>
          </p:cNvPr>
          <p:cNvSpPr txBox="1">
            <a:spLocks/>
          </p:cNvSpPr>
          <p:nvPr/>
        </p:nvSpPr>
        <p:spPr>
          <a:xfrm>
            <a:off x="506535" y="3523201"/>
            <a:ext cx="7781544" cy="859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GB" sz="5400" b="1" kern="1200" dirty="0">
                <a:solidFill>
                  <a:schemeClr val="bg1"/>
                </a:solidFill>
                <a:latin typeface="+mj-lt"/>
                <a:ea typeface="+mj-ea"/>
                <a:cs typeface="+mj-cs"/>
              </a:defRPr>
            </a:lvl1pPr>
          </a:lstStyle>
          <a:p>
            <a:r>
              <a:rPr lang="en-IN" u="sng" dirty="0" smtClean="0"/>
              <a:t>STEPS TO FOLLOW</a:t>
            </a:r>
            <a:endParaRPr lang="en-US" dirty="0"/>
          </a:p>
        </p:txBody>
      </p:sp>
      <p:sp>
        <p:nvSpPr>
          <p:cNvPr id="7" name="Text Placeholder 4">
            <a:extLst>
              <a:ext uri="{FF2B5EF4-FFF2-40B4-BE49-F238E27FC236}">
                <a16:creationId xmlns:a16="http://schemas.microsoft.com/office/drawing/2014/main" id="{0A95F4DE-39B7-4CE2-BC1E-8B8AE662A895}"/>
              </a:ext>
            </a:extLst>
          </p:cNvPr>
          <p:cNvSpPr txBox="1">
            <a:spLocks/>
          </p:cNvSpPr>
          <p:nvPr/>
        </p:nvSpPr>
        <p:spPr>
          <a:xfrm>
            <a:off x="506535" y="4766605"/>
            <a:ext cx="5296388" cy="228482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lang="en-US" sz="1600" kern="1200" spc="300">
                <a:solidFill>
                  <a:schemeClr val="accent1">
                    <a:lumMod val="20000"/>
                    <a:lumOff val="80000"/>
                  </a:schemeClr>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smtClean="0"/>
              <a:t>Data Cleaning and Transformation</a:t>
            </a:r>
          </a:p>
          <a:p>
            <a:pPr marL="285750" indent="-285750">
              <a:buFont typeface="Arial" panose="020B0604020202020204" pitchFamily="34" charset="0"/>
              <a:buChar char="•"/>
            </a:pPr>
            <a:r>
              <a:rPr lang="en-IN" dirty="0"/>
              <a:t>Descriptive Statistical </a:t>
            </a:r>
            <a:r>
              <a:rPr lang="en-IN" dirty="0" smtClean="0"/>
              <a:t>Analysis</a:t>
            </a:r>
          </a:p>
          <a:p>
            <a:pPr marL="285750" indent="-285750">
              <a:buFont typeface="Arial" panose="020B0604020202020204" pitchFamily="34" charset="0"/>
              <a:buChar char="•"/>
            </a:pPr>
            <a:r>
              <a:rPr lang="en-IN" dirty="0"/>
              <a:t>DAX </a:t>
            </a:r>
            <a:r>
              <a:rPr lang="en-IN" dirty="0" smtClean="0"/>
              <a:t>Calculations </a:t>
            </a:r>
          </a:p>
          <a:p>
            <a:pPr marL="285750" indent="-285750">
              <a:buFont typeface="Arial" panose="020B0604020202020204" pitchFamily="34" charset="0"/>
              <a:buChar char="•"/>
            </a:pPr>
            <a:r>
              <a:rPr lang="en-IN" dirty="0"/>
              <a:t>Data </a:t>
            </a:r>
            <a:r>
              <a:rPr lang="en-IN" dirty="0" smtClean="0"/>
              <a:t>Visualizations</a:t>
            </a:r>
          </a:p>
          <a:p>
            <a:pPr marL="285750" indent="-285750">
              <a:buFont typeface="Arial" panose="020B0604020202020204" pitchFamily="34" charset="0"/>
              <a:buChar char="•"/>
            </a:pPr>
            <a:r>
              <a:rPr lang="en-IN" dirty="0"/>
              <a:t>Key Insights and </a:t>
            </a:r>
            <a:r>
              <a:rPr lang="en-IN" dirty="0" smtClean="0"/>
              <a:t>Analysis</a:t>
            </a:r>
            <a:endParaRPr lang="en-IN"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550750" y="316523"/>
            <a:ext cx="7781544" cy="859055"/>
          </a:xfrm>
        </p:spPr>
        <p:txBody>
          <a:bodyPr/>
          <a:lstStyle/>
          <a:p>
            <a:r>
              <a:rPr lang="en-IN" u="sng" dirty="0"/>
              <a:t>DATASET </a:t>
            </a:r>
            <a:r>
              <a:rPr lang="en-IN" u="sng" dirty="0" smtClean="0"/>
              <a:t>OVERVIEW</a:t>
            </a:r>
            <a:endParaRPr lang="en-US" u="sng" dirty="0"/>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992" y="1478054"/>
            <a:ext cx="11192608" cy="242573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992" y="4044462"/>
            <a:ext cx="5460023" cy="2635738"/>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8577" y="4044462"/>
            <a:ext cx="5460023" cy="2635738"/>
          </a:xfrm>
          <a:prstGeom prst="rect">
            <a:avLst/>
          </a:prstGeom>
        </p:spPr>
      </p:pic>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7512538" cy="840230"/>
          </a:xfrm>
        </p:spPr>
        <p:txBody>
          <a:bodyPr/>
          <a:lstStyle/>
          <a:p>
            <a:r>
              <a:rPr lang="en-US" sz="5400" u="sng" dirty="0"/>
              <a:t>I</a:t>
            </a:r>
            <a:r>
              <a:rPr lang="en-US" sz="5400" u="sng" dirty="0" smtClean="0"/>
              <a:t>mporting Datasets</a:t>
            </a:r>
            <a:endParaRPr lang="en-US" sz="5400" u="sng"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593970" y="4721590"/>
            <a:ext cx="8013699" cy="1776047"/>
          </a:xfrm>
        </p:spPr>
        <p:txBody>
          <a:bodyPr/>
          <a:lstStyle/>
          <a:p>
            <a:r>
              <a:rPr lang="en-US" dirty="0" smtClean="0">
                <a:solidFill>
                  <a:schemeClr val="accent2"/>
                </a:solidFill>
              </a:rPr>
              <a:t>Handling the Null value and Blank rows </a:t>
            </a:r>
          </a:p>
          <a:p>
            <a:pPr marL="0" indent="0">
              <a:buNone/>
            </a:pPr>
            <a:endParaRPr lang="en-US" dirty="0" smtClean="0">
              <a:solidFill>
                <a:schemeClr val="accent2"/>
              </a:solidFill>
            </a:endParaRPr>
          </a:p>
          <a:p>
            <a:r>
              <a:rPr lang="en-US" dirty="0" smtClean="0">
                <a:solidFill>
                  <a:schemeClr val="accent2"/>
                </a:solidFill>
              </a:rPr>
              <a:t>Standardizing column names and changing the column types to the right ones</a:t>
            </a:r>
          </a:p>
          <a:p>
            <a:endParaRPr lang="en-US" dirty="0" smtClean="0">
              <a:solidFill>
                <a:schemeClr val="accent2"/>
              </a:solidFill>
            </a:endParaRPr>
          </a:p>
          <a:p>
            <a:r>
              <a:rPr lang="en-US" dirty="0" smtClean="0">
                <a:solidFill>
                  <a:schemeClr val="accent2"/>
                </a:solidFill>
              </a:rPr>
              <a:t>Remove the duplicate rows and columns</a:t>
            </a:r>
          </a:p>
          <a:p>
            <a:endParaRPr lang="en-US" dirty="0">
              <a:solidFill>
                <a:schemeClr val="accent2"/>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5" name="Title 6">
            <a:extLst>
              <a:ext uri="{FF2B5EF4-FFF2-40B4-BE49-F238E27FC236}">
                <a16:creationId xmlns:a16="http://schemas.microsoft.com/office/drawing/2014/main" id="{7875C19A-1AAE-476A-A316-A2CF92D763D3}"/>
              </a:ext>
            </a:extLst>
          </p:cNvPr>
          <p:cNvSpPr txBox="1">
            <a:spLocks/>
          </p:cNvSpPr>
          <p:nvPr/>
        </p:nvSpPr>
        <p:spPr>
          <a:xfrm>
            <a:off x="444500" y="3719008"/>
            <a:ext cx="7512538" cy="840230"/>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5400" u="sng" dirty="0" smtClean="0"/>
              <a:t>Cleaning Datasets</a:t>
            </a:r>
            <a:endParaRPr lang="en-US" sz="5400" u="sng" dirty="0"/>
          </a:p>
        </p:txBody>
      </p:sp>
      <p:sp>
        <p:nvSpPr>
          <p:cNvPr id="3" name="TextBox 2"/>
          <p:cNvSpPr txBox="1"/>
          <p:nvPr/>
        </p:nvSpPr>
        <p:spPr>
          <a:xfrm>
            <a:off x="593970" y="1621212"/>
            <a:ext cx="7820269" cy="2862322"/>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accent2"/>
                </a:solidFill>
              </a:rPr>
              <a:t>Imported SQL dataset: Using SQL connector and from 'Get Data' - MySQL Database - (Select file) </a:t>
            </a:r>
            <a:r>
              <a:rPr lang="en-US" dirty="0" smtClean="0">
                <a:solidFill>
                  <a:schemeClr val="accent2"/>
                </a:solidFill>
              </a:rPr>
              <a:t>– Connect</a:t>
            </a:r>
          </a:p>
          <a:p>
            <a:endParaRPr lang="en-US" dirty="0" smtClean="0">
              <a:solidFill>
                <a:schemeClr val="accent2"/>
              </a:solidFill>
            </a:endParaRPr>
          </a:p>
          <a:p>
            <a:pPr marL="285750" indent="-285750">
              <a:buFont typeface="Arial" panose="020B0604020202020204" pitchFamily="34" charset="0"/>
              <a:buChar char="•"/>
            </a:pPr>
            <a:r>
              <a:rPr lang="en-US" dirty="0">
                <a:solidFill>
                  <a:schemeClr val="accent2"/>
                </a:solidFill>
              </a:rPr>
              <a:t>Imported CSV file: 'Get Data' - Text/CSV - Select file </a:t>
            </a:r>
            <a:r>
              <a:rPr lang="en-US" dirty="0" smtClean="0">
                <a:solidFill>
                  <a:schemeClr val="accent2"/>
                </a:solidFill>
              </a:rPr>
              <a:t>– Import</a:t>
            </a:r>
          </a:p>
          <a:p>
            <a:pPr marL="285750" indent="-285750">
              <a:buFont typeface="Arial" panose="020B0604020202020204" pitchFamily="34" charset="0"/>
              <a:buChar char="•"/>
            </a:pPr>
            <a:endParaRPr lang="en-US" dirty="0" smtClean="0">
              <a:solidFill>
                <a:schemeClr val="accent2"/>
              </a:solidFill>
            </a:endParaRPr>
          </a:p>
          <a:p>
            <a:pPr marL="285750" indent="-285750">
              <a:buFont typeface="Arial" panose="020B0604020202020204" pitchFamily="34" charset="0"/>
              <a:buChar char="•"/>
            </a:pPr>
            <a:r>
              <a:rPr lang="en-US" dirty="0">
                <a:solidFill>
                  <a:schemeClr val="accent2"/>
                </a:solidFill>
              </a:rPr>
              <a:t>Imported Excel Worksheet: 'Get Data' - Excel Workbook - Select file and particular sheets needed - Import</a:t>
            </a:r>
          </a:p>
          <a:p>
            <a:pPr marL="285750" indent="-285750">
              <a:buFont typeface="Arial" panose="020B0604020202020204" pitchFamily="34" charset="0"/>
              <a:buChar char="•"/>
            </a:pPr>
            <a:endParaRPr lang="en-US" dirty="0">
              <a:solidFill>
                <a:schemeClr val="accent2"/>
              </a:solidFill>
            </a:endParaRPr>
          </a:p>
          <a:p>
            <a:pPr marL="285750" indent="-285750">
              <a:buFont typeface="Arial" panose="020B0604020202020204" pitchFamily="34" charset="0"/>
              <a:buChar char="•"/>
            </a:pPr>
            <a:endParaRPr lang="en-US" dirty="0">
              <a:solidFill>
                <a:schemeClr val="accent2"/>
              </a:solidFill>
            </a:endParaRPr>
          </a:p>
          <a:p>
            <a:pPr marL="285750" indent="-285750">
              <a:buFont typeface="Arial" panose="020B0604020202020204" pitchFamily="34" charset="0"/>
              <a:buChar char="•"/>
            </a:pPr>
            <a:endParaRPr lang="en-US" dirty="0">
              <a:solidFill>
                <a:schemeClr val="accent2"/>
              </a:solidFill>
            </a:endParaRP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463794"/>
            <a:ext cx="11214100" cy="1588127"/>
          </a:xfrm>
        </p:spPr>
        <p:txBody>
          <a:bodyPr/>
          <a:lstStyle/>
          <a:p>
            <a:r>
              <a:rPr lang="en-US" sz="5400" u="sng" dirty="0" smtClean="0"/>
              <a:t>DAX Formula And  Descriptive</a:t>
            </a:r>
            <a:r>
              <a:rPr lang="en-US" u="sng" dirty="0" smtClean="0"/>
              <a:t> </a:t>
            </a:r>
            <a:r>
              <a:rPr lang="en-US" sz="5400" u="sng" dirty="0" smtClean="0"/>
              <a:t>Statistics</a:t>
            </a:r>
            <a:r>
              <a:rPr lang="en-US" u="sng" dirty="0" smtClean="0"/>
              <a:t>  </a:t>
            </a:r>
            <a:r>
              <a:rPr lang="en-US" sz="5400" u="sng" dirty="0" smtClean="0"/>
              <a:t>Calculation</a:t>
            </a:r>
            <a:endParaRPr lang="en-US" sz="5400" u="sng"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38" y="2329962"/>
            <a:ext cx="6679965" cy="266934"/>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8275" y="2329961"/>
            <a:ext cx="4190325" cy="243371"/>
          </a:xfrm>
          <a:prstGeom prst="rect">
            <a:avLst/>
          </a:prstGeom>
        </p:spPr>
      </p:pic>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080" y="2711384"/>
            <a:ext cx="5228101" cy="211168"/>
          </a:xfrm>
          <a:prstGeom prst="rect">
            <a:avLst/>
          </a:prstGeom>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1" y="2711384"/>
            <a:ext cx="5562600" cy="209579"/>
          </a:xfrm>
          <a:prstGeom prst="rect">
            <a:avLst/>
          </a:prstGeom>
        </p:spPr>
      </p:pic>
      <p:pic>
        <p:nvPicPr>
          <p:cNvPr id="16" name="Picture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9138" y="3059015"/>
            <a:ext cx="11029462" cy="1075722"/>
          </a:xfrm>
          <a:prstGeom prst="rect">
            <a:avLst/>
          </a:prstGeom>
        </p:spPr>
      </p:pic>
      <p:pic>
        <p:nvPicPr>
          <p:cNvPr id="17" name="Picture 1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9138" y="4325938"/>
            <a:ext cx="5381518" cy="219106"/>
          </a:xfrm>
          <a:prstGeom prst="rect">
            <a:avLst/>
          </a:prstGeom>
        </p:spPr>
      </p:pic>
      <p:pic>
        <p:nvPicPr>
          <p:cNvPr id="18" name="Picture 1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43869" y="4339957"/>
            <a:ext cx="5514731" cy="205087"/>
          </a:xfrm>
          <a:prstGeom prst="rect">
            <a:avLst/>
          </a:prstGeom>
        </p:spPr>
      </p:pic>
      <p:pic>
        <p:nvPicPr>
          <p:cNvPr id="19" name="Picture 1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9138" y="4998808"/>
            <a:ext cx="3721882" cy="236070"/>
          </a:xfrm>
          <a:prstGeom prst="rect">
            <a:avLst/>
          </a:prstGeom>
        </p:spPr>
      </p:pic>
      <p:pic>
        <p:nvPicPr>
          <p:cNvPr id="20" name="Picture 1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93267" y="5007558"/>
            <a:ext cx="3866521" cy="236070"/>
          </a:xfrm>
          <a:prstGeom prst="rect">
            <a:avLst/>
          </a:prstGeom>
        </p:spPr>
      </p:pic>
      <p:pic>
        <p:nvPicPr>
          <p:cNvPr id="21" name="Picture 20"/>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445551" y="5007163"/>
            <a:ext cx="3213049" cy="236070"/>
          </a:xfrm>
          <a:prstGeom prst="rect">
            <a:avLst/>
          </a:prstGeom>
        </p:spPr>
      </p:pic>
      <p:pic>
        <p:nvPicPr>
          <p:cNvPr id="22" name="Picture 2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29138" y="5329118"/>
            <a:ext cx="11029462" cy="352474"/>
          </a:xfrm>
          <a:prstGeom prst="rect">
            <a:avLst/>
          </a:prstGeom>
        </p:spPr>
      </p:pic>
      <p:pic>
        <p:nvPicPr>
          <p:cNvPr id="23" name="Picture 2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29138" y="5761589"/>
            <a:ext cx="11029462" cy="381716"/>
          </a:xfrm>
          <a:prstGeom prst="rect">
            <a:avLst/>
          </a:prstGeom>
        </p:spPr>
      </p:pic>
      <p:pic>
        <p:nvPicPr>
          <p:cNvPr id="24" name="Picture 23"/>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38080" y="4688016"/>
            <a:ext cx="3712940" cy="230795"/>
          </a:xfrm>
          <a:prstGeom prst="rect">
            <a:avLst/>
          </a:prstGeom>
        </p:spPr>
      </p:pic>
      <p:pic>
        <p:nvPicPr>
          <p:cNvPr id="25" name="Picture 2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493267" y="4688016"/>
            <a:ext cx="3866521" cy="236437"/>
          </a:xfrm>
          <a:prstGeom prst="rect">
            <a:avLst/>
          </a:prstGeom>
        </p:spPr>
      </p:pic>
      <p:pic>
        <p:nvPicPr>
          <p:cNvPr id="26" name="Picture 25"/>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440729" y="4673404"/>
            <a:ext cx="3217871" cy="257211"/>
          </a:xfrm>
          <a:prstGeom prst="rect">
            <a:avLst/>
          </a:prstGeom>
        </p:spPr>
      </p:pic>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684530" y="213838"/>
            <a:ext cx="11214100" cy="840230"/>
          </a:xfrm>
        </p:spPr>
        <p:txBody>
          <a:bodyPr/>
          <a:lstStyle/>
          <a:p>
            <a:r>
              <a:rPr lang="en-US" sz="5400" u="sng" dirty="0" smtClean="0"/>
              <a:t>DASHBOARD</a:t>
            </a:r>
            <a:endParaRPr lang="en-US" sz="5400" u="sng" dirty="0"/>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6</a:t>
            </a:fld>
            <a:endParaRPr lang="en-US"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3" y="1320800"/>
            <a:ext cx="12182593" cy="5537200"/>
          </a:xfrm>
          <a:prstGeom prst="rect">
            <a:avLst/>
          </a:prstGeom>
        </p:spPr>
      </p:pic>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840230"/>
          </a:xfrm>
        </p:spPr>
        <p:txBody>
          <a:bodyPr/>
          <a:lstStyle/>
          <a:p>
            <a:r>
              <a:rPr lang="en-US" sz="5400" u="sng" dirty="0" smtClean="0"/>
              <a:t>Finding and Insight</a:t>
            </a:r>
            <a:endParaRPr lang="en-US" sz="5400" u="sng" dirty="0"/>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
        <p:nvSpPr>
          <p:cNvPr id="3" name="TextBox 2"/>
          <p:cNvSpPr txBox="1"/>
          <p:nvPr/>
        </p:nvSpPr>
        <p:spPr>
          <a:xfrm>
            <a:off x="509953" y="1696915"/>
            <a:ext cx="9697916" cy="3693319"/>
          </a:xfrm>
          <a:prstGeom prst="rect">
            <a:avLst/>
          </a:prstGeom>
          <a:noFill/>
        </p:spPr>
        <p:txBody>
          <a:bodyPr wrap="square" rtlCol="0">
            <a:spAutoFit/>
          </a:bodyPr>
          <a:lstStyle/>
          <a:p>
            <a:pPr marL="285750" indent="-285750">
              <a:buFont typeface="Arial" panose="020B0604020202020204" pitchFamily="34" charset="0"/>
              <a:buChar char="•"/>
            </a:pPr>
            <a:r>
              <a:rPr lang="en-US" dirty="0" smtClean="0">
                <a:solidFill>
                  <a:schemeClr val="accent2"/>
                </a:solidFill>
              </a:rPr>
              <a:t>The global population has significantly increased from 1960 to 2020</a:t>
            </a:r>
          </a:p>
          <a:p>
            <a:pPr marL="285750" indent="-285750">
              <a:buFont typeface="Arial" panose="020B0604020202020204" pitchFamily="34" charset="0"/>
              <a:buChar char="•"/>
            </a:pPr>
            <a:r>
              <a:rPr lang="en-US" dirty="0">
                <a:solidFill>
                  <a:schemeClr val="accent2"/>
                </a:solidFill>
              </a:rPr>
              <a:t>Countries with </a:t>
            </a:r>
            <a:r>
              <a:rPr lang="en-US" dirty="0" smtClean="0">
                <a:solidFill>
                  <a:schemeClr val="accent2"/>
                </a:solidFill>
              </a:rPr>
              <a:t>the highest </a:t>
            </a:r>
            <a:r>
              <a:rPr lang="en-US" dirty="0">
                <a:solidFill>
                  <a:schemeClr val="accent2"/>
                </a:solidFill>
              </a:rPr>
              <a:t>populations include China, India, and the United States, showing consistent growth since 1960</a:t>
            </a:r>
            <a:r>
              <a:rPr lang="en-US" dirty="0" smtClean="0">
                <a:solidFill>
                  <a:schemeClr val="accent2"/>
                </a:solidFill>
              </a:rPr>
              <a:t>.</a:t>
            </a:r>
          </a:p>
          <a:p>
            <a:pPr marL="285750" indent="-285750">
              <a:buFont typeface="Arial" panose="020B0604020202020204" pitchFamily="34" charset="0"/>
              <a:buChar char="•"/>
            </a:pPr>
            <a:r>
              <a:rPr lang="en-US" dirty="0">
                <a:solidFill>
                  <a:schemeClr val="accent2"/>
                </a:solidFill>
              </a:rPr>
              <a:t>The United States leads with the highest GDP, significantly influencing the global </a:t>
            </a:r>
            <a:r>
              <a:rPr lang="en-US" dirty="0" smtClean="0">
                <a:solidFill>
                  <a:schemeClr val="accent2"/>
                </a:solidFill>
              </a:rPr>
              <a:t>economy.</a:t>
            </a:r>
            <a:endParaRPr lang="en-US" dirty="0">
              <a:solidFill>
                <a:schemeClr val="accent2"/>
              </a:solidFill>
            </a:endParaRPr>
          </a:p>
          <a:p>
            <a:pPr marL="285750" indent="-285750">
              <a:buFont typeface="Arial" panose="020B0604020202020204" pitchFamily="34" charset="0"/>
              <a:buChar char="•"/>
            </a:pPr>
            <a:r>
              <a:rPr lang="en-US" dirty="0" smtClean="0">
                <a:solidFill>
                  <a:schemeClr val="accent2"/>
                </a:solidFill>
              </a:rPr>
              <a:t>Low-income </a:t>
            </a:r>
            <a:r>
              <a:rPr lang="en-US" dirty="0">
                <a:solidFill>
                  <a:schemeClr val="accent2"/>
                </a:solidFill>
              </a:rPr>
              <a:t>countries show minimal GDP, indicating economic disparities</a:t>
            </a:r>
            <a:r>
              <a:rPr lang="en-US" dirty="0" smtClean="0">
                <a:solidFill>
                  <a:schemeClr val="accent2"/>
                </a:solidFill>
              </a:rPr>
              <a:t>.</a:t>
            </a:r>
          </a:p>
          <a:p>
            <a:pPr marL="285750" indent="-285750">
              <a:buFont typeface="Arial" panose="020B0604020202020204" pitchFamily="34" charset="0"/>
              <a:buChar char="•"/>
            </a:pPr>
            <a:r>
              <a:rPr lang="en-US" dirty="0">
                <a:solidFill>
                  <a:schemeClr val="accent2"/>
                </a:solidFill>
              </a:rPr>
              <a:t>High-income countries have a greater share of GDP from services, while low-income countries rely more on agriculture</a:t>
            </a:r>
            <a:r>
              <a:rPr lang="en-US" dirty="0" smtClean="0">
                <a:solidFill>
                  <a:schemeClr val="accent2"/>
                </a:solidFill>
              </a:rPr>
              <a:t>.</a:t>
            </a:r>
          </a:p>
          <a:p>
            <a:pPr marL="285750" indent="-285750">
              <a:buFont typeface="Arial" panose="020B0604020202020204" pitchFamily="34" charset="0"/>
              <a:buChar char="•"/>
            </a:pPr>
            <a:r>
              <a:rPr lang="en-US" dirty="0">
                <a:solidFill>
                  <a:schemeClr val="accent2"/>
                </a:solidFill>
              </a:rPr>
              <a:t>Infant mortality is drastically higher in low-GDP, low-literacy countries.</a:t>
            </a:r>
          </a:p>
          <a:p>
            <a:pPr marL="285750" indent="-285750">
              <a:buFont typeface="Arial" panose="020B0604020202020204" pitchFamily="34" charset="0"/>
              <a:buChar char="•"/>
            </a:pPr>
            <a:r>
              <a:rPr lang="en-US" dirty="0">
                <a:solidFill>
                  <a:schemeClr val="accent2"/>
                </a:solidFill>
              </a:rPr>
              <a:t>Highest literacy rates are found in Northern and Western Europe, North America, and East Asia.</a:t>
            </a:r>
          </a:p>
          <a:p>
            <a:pPr marL="285750" indent="-285750">
              <a:buFont typeface="Arial" panose="020B0604020202020204" pitchFamily="34" charset="0"/>
              <a:buChar char="•"/>
            </a:pPr>
            <a:r>
              <a:rPr lang="en-US" dirty="0">
                <a:solidFill>
                  <a:schemeClr val="accent2"/>
                </a:solidFill>
              </a:rPr>
              <a:t>Countries investing more in services and education show better GDP and health indicators.</a:t>
            </a:r>
          </a:p>
          <a:p>
            <a:pPr marL="285750" indent="-285750">
              <a:buFont typeface="Arial" panose="020B0604020202020204" pitchFamily="34" charset="0"/>
              <a:buChar char="•"/>
            </a:pPr>
            <a:endParaRPr lang="en-US" dirty="0">
              <a:solidFill>
                <a:schemeClr val="accent2"/>
              </a:solidFill>
            </a:endParaRPr>
          </a:p>
          <a:p>
            <a:pPr marL="285750" indent="-285750">
              <a:buFont typeface="Arial" panose="020B0604020202020204" pitchFamily="34" charset="0"/>
              <a:buChar char="•"/>
            </a:pPr>
            <a:endParaRPr lang="en-US" dirty="0">
              <a:solidFill>
                <a:schemeClr val="accent2"/>
              </a:solidFill>
            </a:endParaRPr>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444500" y="542925"/>
            <a:ext cx="11214100" cy="840230"/>
          </a:xfrm>
        </p:spPr>
        <p:txBody>
          <a:bodyPr/>
          <a:lstStyle/>
          <a:p>
            <a:r>
              <a:rPr lang="en-US" sz="5400" u="sng" dirty="0" smtClean="0"/>
              <a:t>Conclusions</a:t>
            </a:r>
            <a:endParaRPr lang="en-US" sz="5400" u="sng" dirty="0"/>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
        <p:nvSpPr>
          <p:cNvPr id="3" name="TextBox 2"/>
          <p:cNvSpPr txBox="1"/>
          <p:nvPr/>
        </p:nvSpPr>
        <p:spPr>
          <a:xfrm>
            <a:off x="527539" y="1828799"/>
            <a:ext cx="10867293" cy="397031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accent2"/>
                </a:solidFill>
              </a:rPr>
              <a:t>Focus on policy &amp; investments in low-income countries to reduce </a:t>
            </a:r>
            <a:r>
              <a:rPr lang="en-US" dirty="0" smtClean="0">
                <a:solidFill>
                  <a:schemeClr val="accent2"/>
                </a:solidFill>
              </a:rPr>
              <a:t>disparity</a:t>
            </a:r>
          </a:p>
          <a:p>
            <a:endParaRPr lang="en-US" dirty="0" smtClean="0">
              <a:solidFill>
                <a:schemeClr val="accent2"/>
              </a:solidFill>
            </a:endParaRPr>
          </a:p>
          <a:p>
            <a:endParaRPr lang="en-US" dirty="0" smtClean="0">
              <a:solidFill>
                <a:schemeClr val="accent2"/>
              </a:solidFill>
            </a:endParaRPr>
          </a:p>
          <a:p>
            <a:pPr marL="285750" indent="-285750">
              <a:buFont typeface="Arial" panose="020B0604020202020204" pitchFamily="34" charset="0"/>
              <a:buChar char="•"/>
            </a:pPr>
            <a:r>
              <a:rPr lang="en-US" dirty="0">
                <a:solidFill>
                  <a:schemeClr val="accent2"/>
                </a:solidFill>
              </a:rPr>
              <a:t>Strengthen global partnerships to support weaker </a:t>
            </a:r>
            <a:r>
              <a:rPr lang="en-US" dirty="0" smtClean="0">
                <a:solidFill>
                  <a:schemeClr val="accent2"/>
                </a:solidFill>
              </a:rPr>
              <a:t>economies</a:t>
            </a:r>
          </a:p>
          <a:p>
            <a:endParaRPr lang="en-US" dirty="0" smtClean="0">
              <a:solidFill>
                <a:schemeClr val="accent2"/>
              </a:solidFill>
            </a:endParaRPr>
          </a:p>
          <a:p>
            <a:endParaRPr lang="en-US" dirty="0">
              <a:solidFill>
                <a:schemeClr val="accent2"/>
              </a:solidFill>
            </a:endParaRPr>
          </a:p>
          <a:p>
            <a:pPr marL="285750" indent="-285750">
              <a:buFont typeface="Arial" panose="020B0604020202020204" pitchFamily="34" charset="0"/>
              <a:buChar char="•"/>
            </a:pPr>
            <a:r>
              <a:rPr lang="en-IN" dirty="0">
                <a:solidFill>
                  <a:schemeClr val="accent2"/>
                </a:solidFill>
              </a:rPr>
              <a:t>Strengthen Investment in </a:t>
            </a:r>
            <a:r>
              <a:rPr lang="en-IN" dirty="0" smtClean="0">
                <a:solidFill>
                  <a:schemeClr val="accent2"/>
                </a:solidFill>
              </a:rPr>
              <a:t>Education and </a:t>
            </a:r>
            <a:r>
              <a:rPr lang="en-IN" dirty="0">
                <a:solidFill>
                  <a:schemeClr val="accent2"/>
                </a:solidFill>
              </a:rPr>
              <a:t>Healthcare </a:t>
            </a:r>
            <a:r>
              <a:rPr lang="en-IN" dirty="0" smtClean="0">
                <a:solidFill>
                  <a:schemeClr val="accent2"/>
                </a:solidFill>
              </a:rPr>
              <a:t>Infrastructure</a:t>
            </a:r>
          </a:p>
          <a:p>
            <a:endParaRPr lang="en-IN" dirty="0" smtClean="0">
              <a:solidFill>
                <a:schemeClr val="accent2"/>
              </a:solidFill>
            </a:endParaRPr>
          </a:p>
          <a:p>
            <a:endParaRPr lang="en-IN" dirty="0" smtClean="0">
              <a:solidFill>
                <a:schemeClr val="accent2"/>
              </a:solidFill>
            </a:endParaRPr>
          </a:p>
          <a:p>
            <a:pPr marL="285750" indent="-285750">
              <a:buFont typeface="Arial" panose="020B0604020202020204" pitchFamily="34" charset="0"/>
              <a:buChar char="•"/>
            </a:pPr>
            <a:r>
              <a:rPr lang="en-US" dirty="0">
                <a:solidFill>
                  <a:schemeClr val="accent2"/>
                </a:solidFill>
              </a:rPr>
              <a:t>Control Population Growth in Rapidly Growing </a:t>
            </a:r>
            <a:r>
              <a:rPr lang="en-US" dirty="0" smtClean="0">
                <a:solidFill>
                  <a:schemeClr val="accent2"/>
                </a:solidFill>
              </a:rPr>
              <a:t>Regions</a:t>
            </a:r>
          </a:p>
          <a:p>
            <a:endParaRPr lang="en-US" dirty="0" smtClean="0">
              <a:solidFill>
                <a:schemeClr val="accent2"/>
              </a:solidFill>
            </a:endParaRPr>
          </a:p>
          <a:p>
            <a:endParaRPr lang="en-US" dirty="0" smtClean="0">
              <a:solidFill>
                <a:schemeClr val="accent2"/>
              </a:solidFill>
            </a:endParaRPr>
          </a:p>
          <a:p>
            <a:pPr marL="285750" indent="-285750">
              <a:buFont typeface="Arial" panose="020B0604020202020204" pitchFamily="34" charset="0"/>
              <a:buChar char="•"/>
            </a:pPr>
            <a:r>
              <a:rPr lang="en-US" dirty="0">
                <a:solidFill>
                  <a:schemeClr val="accent2"/>
                </a:solidFill>
              </a:rPr>
              <a:t>Enhance Data Monitoring and Policy Alignment</a:t>
            </a:r>
          </a:p>
          <a:p>
            <a:pPr marL="285750" indent="-285750">
              <a:buFont typeface="Arial" panose="020B0604020202020204" pitchFamily="34" charset="0"/>
              <a:buChar char="•"/>
            </a:pPr>
            <a:endParaRPr lang="en-IN" dirty="0">
              <a:solidFill>
                <a:schemeClr val="accent2"/>
              </a:solidFill>
            </a:endParaRPr>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2090420" y="3113405"/>
            <a:ext cx="7988300" cy="2336024"/>
          </a:xfrm>
        </p:spPr>
        <p:txBody>
          <a:bodyPr/>
          <a:lstStyle/>
          <a:p>
            <a:r>
              <a:rPr lang="en-US" sz="8000" dirty="0" smtClean="0"/>
              <a:t>THANK YOU ALL</a:t>
            </a:r>
            <a:endParaRPr lang="en-US" sz="8000" dirty="0"/>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350</Words>
  <Application>Microsoft Office PowerPoint</Application>
  <PresentationFormat>Widescreen</PresentationFormat>
  <Paragraphs>59</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Tahoma</vt:lpstr>
      <vt:lpstr>Trade Gothic LT Pro</vt:lpstr>
      <vt:lpstr>Trebuchet MS</vt:lpstr>
      <vt:lpstr>Office Theme</vt:lpstr>
      <vt:lpstr>Global Economic and Demographic Trends Analysis (1960–2016)</vt:lpstr>
      <vt:lpstr>OBJECTIVE</vt:lpstr>
      <vt:lpstr>DATASET OVERVIEW</vt:lpstr>
      <vt:lpstr>Importing Datasets</vt:lpstr>
      <vt:lpstr>DAX Formula And  Descriptive Statistics  Calculation</vt:lpstr>
      <vt:lpstr>DASHBOARD</vt:lpstr>
      <vt:lpstr>Finding and Insight</vt:lpstr>
      <vt:lpstr>Conclusions</vt:lpstr>
      <vt:lpstr>THANK YOU 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2025-07-26T07:49:48Z</dcterms:created>
  <dcterms:modified xsi:type="dcterms:W3CDTF">2025-09-30T07:55:49Z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